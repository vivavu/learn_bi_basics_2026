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920E77-8E1C-4FED-BA5E-7157FC8ECC34}">
  <a:tblStyle styleId="{86920E77-8E1C-4FED-BA5E-7157FC8ECC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bold.fntdata"/><Relationship Id="rId10" Type="http://schemas.openxmlformats.org/officeDocument/2006/relationships/slide" Target="slides/slide4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50450" y="1640225"/>
            <a:ext cx="86910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Business Need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to Data Insight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47912" y="3676626"/>
            <a:ext cx="629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An Essential Guide to </a:t>
            </a:r>
            <a:r>
              <a:rPr lang="en-US" sz="2100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Intelligence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131200" y="4465874"/>
            <a:ext cx="6112800" cy="57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605462" y="4989016"/>
            <a:ext cx="225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Zhihao Wu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71500" y="303177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16716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"Data is only as valuable as the decisions it enables."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21780" y="3508027"/>
            <a:ext cx="208822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Discovery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986063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Needs &amp; KPIs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786795" y="3508027"/>
            <a:ext cx="208822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Engineering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836515" y="3986063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ETL &amp; Modeling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051810" y="3508027"/>
            <a:ext cx="208822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101530" y="3986063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DAX &amp; Logic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316825" y="3508027"/>
            <a:ext cx="208822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366545" y="3986063"/>
            <a:ext cx="19887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&amp; Storytelling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81841" y="3508027"/>
            <a:ext cx="208822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31560" y="3986063"/>
            <a:ext cx="19887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Service &amp; Governance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analytics lifecycle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070" y="27460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5085" y="27460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101" y="27460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5116" y="274602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0131" y="2746027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7031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PHASE ONE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95275" y="306883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Discovery &amp; Requirements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619750" y="4097535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02197"/>
            <a:ext cx="5238750" cy="353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2168872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Identifying the Pain Point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64690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start by understanding what the business is trying to solve. Most requests begin as vague "Feelings":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4485233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Stakeholder Interviews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496326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Gathering qualitative data from department heads to translate vague goals into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measurable KPIs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11722"/>
            <a:ext cx="5219700" cy="3480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34470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"Sales feel like they are dropping."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89468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"Efficiency seems low in logistics."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93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707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Bridging the "Insight Gap"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571500" y="2189708"/>
            <a:ext cx="11049000" cy="33623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7"/>
          <p:cNvGraphicFramePr/>
          <p:nvPr/>
        </p:nvGraphicFramePr>
        <p:xfrm>
          <a:off x="571500" y="21897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{86920E77-8E1C-4FED-BA5E-7157FC8ECC34}</a:tableStyleId>
              </a:tblPr>
              <a:tblGrid>
                <a:gridCol w="2554175"/>
                <a:gridCol w="2554175"/>
                <a:gridCol w="2776625"/>
                <a:gridCol w="3164050"/>
              </a:tblGrid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Team(Role)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Requirement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Functional (What it does)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Non-Functional (How it runs)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IT</a:t>
                      </a:r>
                      <a:endParaRPr b="1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Data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Show data based on Region RLS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End-to-end 256-bit encryption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Service</a:t>
                      </a:r>
                      <a:endParaRPr b="1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Accessibility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Exportable to Excel/PDF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Load time under 5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Commercial</a:t>
                      </a:r>
                      <a:endParaRPr b="1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Data Freshness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Show "Last Refreshed" timestamp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Scheduled refresh 8x daily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Management</a:t>
                      </a:r>
                      <a:endParaRPr b="1" i="0"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Interactivity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Cross-filter between all charts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for 500+ concurrent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17"/>
          <p:cNvSpPr/>
          <p:nvPr/>
        </p:nvSpPr>
        <p:spPr>
          <a:xfrm>
            <a:off x="571500" y="2918370"/>
            <a:ext cx="3322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893641" y="2918370"/>
            <a:ext cx="36114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505104" y="2918370"/>
            <a:ext cx="41153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3575595"/>
            <a:ext cx="3322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893641" y="3575595"/>
            <a:ext cx="36114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505104" y="3575595"/>
            <a:ext cx="41153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232820"/>
            <a:ext cx="3322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893641" y="4232820"/>
            <a:ext cx="36114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505104" y="4232820"/>
            <a:ext cx="41153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4890045"/>
            <a:ext cx="332214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893641" y="4890045"/>
            <a:ext cx="36114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505104" y="4890045"/>
            <a:ext cx="411539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Defining Success Criteria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27031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PHASE TWO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295275" y="306883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Architecture &amp; Modeling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619750" y="4097535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762000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Star Schema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1645890"/>
            <a:ext cx="5200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Structuring for Performance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2123926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ensure high performance and filter integrity, we move from "flat" tables to 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Star Schema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4619476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Establishing One-to-Many relationships is critical for DAX calculation accuracy.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2924026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Fact Tables: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Quantitative events (e.g., Sales, Transactions).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367650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Dimension Tables: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Descriptive attributes (e.g., Product, Date, Geography).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7641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2888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27031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PHASE THREE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295275" y="306883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 &amp; Visualization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619750" y="4097535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5490"/>
            <a:ext cx="3492400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55490"/>
            <a:ext cx="3492549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55490"/>
            <a:ext cx="3492400" cy="323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962025" y="3398490"/>
            <a:ext cx="284691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Trends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3876526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Line or Area Charts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show growth over time (e.g., Monthly Sales Trends).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740175" y="3398490"/>
            <a:ext cx="2847074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Comparisons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740175" y="3876526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Bar or Column Charts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compare performance across categories or regions.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518475" y="3398490"/>
            <a:ext cx="284691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Proportions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518475" y="3876526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Treemaps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show hierarchical data. They offer better readability than Pie charts.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936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6936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693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Choosing the Right Visual Story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2693491"/>
            <a:ext cx="5143500" cy="235475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3174652"/>
            <a:ext cx="54006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Defining Year-over-Year (YoY)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3652688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Writing Data Analysis Expressions (DAX) allows us to create dynamic, time-intelligent measures that provide deep context.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934200" y="3074491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DAX Calculation Example: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4200" y="3569791"/>
            <a:ext cx="4305300" cy="66317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6934200" y="4423469"/>
            <a:ext cx="43053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*CY: Current Year | PY: Prior Year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DAX: The Power Behind the Report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19796"/>
            <a:ext cx="5238750" cy="29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225549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Golden Rule of UI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273352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human eye naturally scans in an "F" pattern. Place your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most critical KPI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 the top-left corner.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29321"/>
            <a:ext cx="5219700" cy="284484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353362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Grid Alignment: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Ensure every visual snaps to a clean grid.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428610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Negative Space: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Don't clutter. Let the data breathe.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473377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Governance: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Moving to the Power BI Service with Workspace Permissions.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01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3848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86163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UI Design &amp; "Final Product" Mindset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571500" y="5715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95275" y="8763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286000" y="211455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analytics lifecycle is an iterative loop. Constant feedback and data governance are the keys to long-term adoption.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/>
          <p:nvPr/>
        </p:nvSpPr>
        <p:spPr>
          <a:xfrm>
            <a:off x="571500" y="26985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4833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4737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4737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42585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7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284142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https://promethium.ai/wp-content/uploads/2025/08/ninthgrid-YsJUxCIW14U-unsplash-scaled.jpg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30871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promethium.ai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327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36261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https://miro.medium.com/1*0Kqnf0oRfequXZEh3460pQ.png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38719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gab-code.medium.com</a:t>
            </a:r>
            <a:endParaRPr/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75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44109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https://cdn.prod.website-files.com/68e9e85a5b12150471bd3ee4/68ff3a0e32efe2e47fae2115_supply-chain-dashboard.svg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46566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thereportinghub.com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800100" y="571500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